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5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5B6B7F"/>
                </a:solidFill>
                <a:latin typeface="Calibri"/>
              </a:rPr>
              <a:t>Detection rate at 1% false positives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rate at 1% false positives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pHash</c:v>
                  </c:pt>
                  <c:pt idx="1">
                    <c:v>CLIP embedding</c:v>
                  </c:pt>
                  <c:pt idx="2">
                    <c:v>Old heuristic fusion</c:v>
                  </c:pt>
                  <c:pt idx="3">
                    <c:v>Learned fusion (in use)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72.9</c:v>
                </c:pt>
                <c:pt idx="1">
                  <c:v>99.3</c:v>
                </c:pt>
                <c:pt idx="2">
                  <c:v>99.6</c:v>
                </c:pt>
                <c:pt idx="3">
                  <c:v>99.4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9E0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5B6B7F"/>
                </a:solidFill>
                <a:latin typeface="Calibri"/>
              </a:rPr>
              <a:t>Old pipeline: fused confidence vs the original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Fused confidence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Minimal AI edit</c:v>
                  </c:pt>
                  <c:pt idx="1">
                    <c:v>Medium AI edit</c:v>
                  </c:pt>
                  <c:pt idx="2">
                    <c:v>Heavy AI edit</c:v>
                  </c:pt>
                  <c:pt idx="3">
                    <c:v>Real photo, child added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99.6</c:v>
                </c:pt>
                <c:pt idx="1">
                  <c:v>79.7</c:v>
                </c:pt>
                <c:pt idx="2">
                  <c:v>0.5</c:v>
                </c:pt>
                <c:pt idx="3">
                  <c:v>96.6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6350" cap="flat">
              <a:solidFill>
                <a:srgbClr val="D9E0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5B6B7F"/>
                </a:solidFill>
                <a:latin typeface="Calibri"/>
              </a:rPr>
              <a:t>Share of test images flagged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 score, strict</c:v>
                </c:pt>
              </c:strCache>
            </c:strRef>
          </c:tx>
          <c:spPr>
            <a:solidFill>
              <a:srgbClr val="9AA9B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Detects altered copies</c:v>
                  </c:pt>
                  <c:pt idx="1">
                    <c:v>Fires on same-scene siblings</c:v>
                  </c:pt>
                  <c:pt idx="2">
                    <c:v>Fires on unrelated images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72.6</c:v>
                </c:pt>
                <c:pt idx="1">
                  <c:v>70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Classic score, loose</c:v>
                </c:pt>
              </c:strCache>
            </c:strRef>
          </c:tx>
          <c:spPr>
            <a:solidFill>
              <a:srgbClr val="5B6B7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Detects altered copies</c:v>
                  </c:pt>
                  <c:pt idx="1">
                    <c:v>Fires on same-scene siblings</c:v>
                  </c:pt>
                  <c:pt idx="2">
                    <c:v>Fires on unrelated images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95.1</c:v>
                </c:pt>
                <c:pt idx="1">
                  <c:v>100</c:v>
                </c:pt>
                <c:pt idx="2">
                  <c:v>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Gate: evidence claim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Detects altered copies</c:v>
                  </c:pt>
                  <c:pt idx="1">
                    <c:v>Fires on same-scene siblings</c:v>
                  </c:pt>
                  <c:pt idx="2">
                    <c:v>Fires on unrelated images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86.8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D9E0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 1 (pixel evidence)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blur_gaussian</c:v>
                  </c:pt>
                  <c:pt idx="1">
                    <c:v>crop_10</c:v>
                  </c:pt>
                  <c:pt idx="2">
                    <c:v>jpeg_q10</c:v>
                  </c:pt>
                  <c:pt idx="3">
                    <c:v>crop_30</c:v>
                  </c:pt>
                  <c:pt idx="4">
                    <c:v>rotate_180</c:v>
                  </c:pt>
                  <c:pt idx="5">
                    <c:v>screenshot_frame</c:v>
                  </c:pt>
                  <c:pt idx="6">
                    <c:v>rotate_90</c:v>
                  </c:pt>
                  <c:pt idx="7">
                    <c:v>crop_50</c:v>
                  </c:pt>
                  <c:pt idx="8">
                    <c:v>resize_50</c:v>
                  </c:pt>
                  <c:pt idx="9">
                    <c:v>jpeg_q30</c:v>
                  </c:pt>
                  <c:pt idx="10">
                    <c:v>grayscale</c:v>
                  </c:pt>
                  <c:pt idx="11">
                    <c:v>hflip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25</c:v>
                </c:pt>
                <c:pt idx="1">
                  <c:v>62</c:v>
                </c:pt>
                <c:pt idx="2">
                  <c:v>87</c:v>
                </c:pt>
                <c:pt idx="3">
                  <c:v>90</c:v>
                </c:pt>
                <c:pt idx="4">
                  <c:v>90</c:v>
                </c:pt>
                <c:pt idx="5">
                  <c:v>95</c:v>
                </c:pt>
                <c:pt idx="6">
                  <c:v>95</c:v>
                </c:pt>
                <c:pt idx="7">
                  <c:v>96</c:v>
                </c:pt>
                <c:pt idx="8">
                  <c:v>98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Any claim reported</c:v>
                </c:pt>
              </c:strCache>
            </c:strRef>
          </c:tx>
          <c:spPr>
            <a:solidFill>
              <a:srgbClr val="B7C4D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blur_gaussian</c:v>
                  </c:pt>
                  <c:pt idx="1">
                    <c:v>crop_10</c:v>
                  </c:pt>
                  <c:pt idx="2">
                    <c:v>jpeg_q10</c:v>
                  </c:pt>
                  <c:pt idx="3">
                    <c:v>crop_30</c:v>
                  </c:pt>
                  <c:pt idx="4">
                    <c:v>rotate_180</c:v>
                  </c:pt>
                  <c:pt idx="5">
                    <c:v>screenshot_frame</c:v>
                  </c:pt>
                  <c:pt idx="6">
                    <c:v>rotate_90</c:v>
                  </c:pt>
                  <c:pt idx="7">
                    <c:v>crop_50</c:v>
                  </c:pt>
                  <c:pt idx="8">
                    <c:v>resize_50</c:v>
                  </c:pt>
                  <c:pt idx="9">
                    <c:v>jpeg_q30</c:v>
                  </c:pt>
                  <c:pt idx="10">
                    <c:v>grayscale</c:v>
                  </c:pt>
                  <c:pt idx="11">
                    <c:v>hflip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98</c:v>
                </c:pt>
                <c:pt idx="1">
                  <c:v>65</c:v>
                </c:pt>
                <c:pt idx="2">
                  <c:v>100</c:v>
                </c:pt>
                <c:pt idx="3">
                  <c:v>91</c:v>
                </c:pt>
                <c:pt idx="4">
                  <c:v>100</c:v>
                </c:pt>
                <c:pt idx="5">
                  <c:v>96</c:v>
                </c:pt>
                <c:pt idx="6">
                  <c:v>99</c:v>
                </c:pt>
                <c:pt idx="7">
                  <c:v>97</c:v>
                </c:pt>
                <c:pt idx="8">
                  <c:v>99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A3A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D9E0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5B6B7F"/>
                </a:solidFill>
                <a:latin typeface="Calibri"/>
              </a:rPr>
              <a:t>Tier 1 rate by image category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Tier 1 (pixel evidence)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whitebackground (n=60)</c:v>
                  </c:pt>
                  <c:pt idx="1">
                    <c:v>alphatransparent (n=180)</c:v>
                  </c:pt>
                  <c:pt idx="2">
                    <c:v>illustration (n=180)</c:v>
                  </c:pt>
                  <c:pt idx="3">
                    <c:v>other photos (small groups) (n=96)</c:v>
                  </c:pt>
                  <c:pt idx="4">
                    <c:v>photo_document (n=48)</c:v>
                  </c:pt>
                  <c:pt idx="5">
                    <c:v>logo (n=60)</c:v>
                  </c:pt>
                  <c:pt idx="6">
                    <c:v>photo_night (n=48)</c:v>
                  </c:pt>
                  <c:pt idx="7">
                    <c:v>photo_architecture (n=24)</c:v>
                  </c:pt>
                  <c:pt idx="8">
                    <c:v>photo_portrait (n=36)</c:v>
                  </c:pt>
                  <c:pt idx="9">
                    <c:v>heavyart (n=444)</c:v>
                  </c:pt>
                  <c:pt idx="10">
                    <c:v>photo_landscape (n=24)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75</c:v>
                </c:pt>
                <c:pt idx="1">
                  <c:v>77.2</c:v>
                </c:pt>
                <c:pt idx="2">
                  <c:v>78.9</c:v>
                </c:pt>
                <c:pt idx="3">
                  <c:v>80.2</c:v>
                </c:pt>
                <c:pt idx="4">
                  <c:v>85.4</c:v>
                </c:pt>
                <c:pt idx="5">
                  <c:v>86.7</c:v>
                </c:pt>
                <c:pt idx="6">
                  <c:v>89.6</c:v>
                </c:pt>
                <c:pt idx="7">
                  <c:v>91.7</c:v>
                </c:pt>
                <c:pt idx="8">
                  <c:v>91.7</c:v>
                </c:pt>
                <c:pt idx="9">
                  <c:v>94.8</c:v>
                </c:pt>
                <c:pt idx="10">
                  <c:v>95.8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D9E0E8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5B6B7F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5B6B7F"/>
                </a:solidFill>
                <a:latin typeface="Calibri"/>
              </a:rPr>
              <a:t>Seconds per stage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Normalise</c:v>
                  </c:pt>
                  <c:pt idx="1">
                    <c:v>Retrieve</c:v>
                  </c:pt>
                  <c:pt idx="2">
                    <c:v>Verify + compare</c:v>
                  </c:pt>
                  <c:pt idx="3">
                    <c:v>Evidence images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0.15</c:v>
                </c:pt>
                <c:pt idx="1">
                  <c:v>1.25</c:v>
                </c:pt>
                <c:pt idx="2">
                  <c:v>2.63</c:v>
                </c:pt>
                <c:pt idx="3">
                  <c:v>0</c:v>
                </c:pt>
                <c:pt idx="4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95th percentile</c:v>
                </c:pt>
              </c:strCache>
            </c:strRef>
          </c:tx>
          <c:spPr>
            <a:solidFill>
              <a:srgbClr val="B7C4D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Normalise</c:v>
                  </c:pt>
                  <c:pt idx="1">
                    <c:v>Retrieve</c:v>
                  </c:pt>
                  <c:pt idx="2">
                    <c:v>Verify + compare</c:v>
                  </c:pt>
                  <c:pt idx="3">
                    <c:v>Evidence images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0.68</c:v>
                </c:pt>
                <c:pt idx="1">
                  <c:v>2.77</c:v>
                </c:pt>
                <c:pt idx="2">
                  <c:v>5.7</c:v>
                </c:pt>
                <c:pt idx="3">
                  <c:v>0</c:v>
                </c:pt>
                <c:pt idx="4">
                  <c:v>8.68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E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0E8"/>
              </a:solidFill>
              <a:prstDash val="solid"/>
              <a:round/>
            </a:ln>
          </c:spPr>
        </c:majorGridlines>
        <c:numFmt formatCode="0.0&quot;s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system started as pHash + CLIP. This deck tells the evidence-backed story of how it became a verification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answers the question the previous one raised.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gaps in existing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user-facing steps from the proposal and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project proposal: expected outcome and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built before any verification gate existed.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evaluation: 40 Lorem Picsum photos, 21 programmatic edits, 840 copies, 32,760 unrelated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study: toddler photo registered; four images checked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on the case-study images; each is in the status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Measurement only; trust the generated files, not chat summaries.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Implementation, then a code review that found defects; each fixed and covered by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row is a weakness the evaluation exposed, then measured after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can fail loudly; failures are recorded.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evidence-grade findings may be presented as proof; leads always need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categories; labels were audited by the system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Deployed operating points on identical test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of scripted edits graded Tier 1; any-claim in the second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 includes the sprite packs and flat vector 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WhatsApp recompresses and strips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handheld photos 7 seconds apart; the camera barely moved.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Evaluated on 40 labelled files plus 75 Gemini edits, 49 WhatsApp copies and 104 originals.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Retrieval and image decoding dominate; candidate checking runs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run has a results folder in the repository; nothing here is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Reserved page. Filled with the complete 1,399-image run when it finishes.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out loud; they are part of the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who made it first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17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perceptual-hash baseline to graded, checkable evidence of copying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  |  one week of experiments, reviews and evaluations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in four stages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560320" cy="37490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and copy checker for independent creators, using two fingerprints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37560" y="1737360"/>
            <a:ext cx="2560320" cy="37490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11880" y="196596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draft pipeline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pHash + CLIP + learned fusion: excellent on a benchmark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26480" y="1737360"/>
            <a:ext cx="2560320" cy="37490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196596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changes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case, rejected fixes, measurement spikes and the verification gate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915400" y="1737360"/>
            <a:ext cx="2560320" cy="3749040"/>
          </a:xfrm>
          <a:prstGeom prst="roundRect">
            <a:avLst>
              <a:gd name="adj" fmla="val 2857"/>
            </a:avLst>
          </a:prstGeom>
          <a:solidFill>
            <a:srgbClr val="D7EEF0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189720" y="1965960"/>
            <a:ext cx="685800" cy="68580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897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880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pipeline run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9189720" y="37947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built to break it, honest results and what is still open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1: The proposal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build, and what we knew could go wrong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Creators cannot prove first authorship or catch altered copies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8288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34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Watermarks need the copier's cooperation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vanish the moment the image is cropped, re-saved or screenshotted.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297680" y="155448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17720" y="18288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177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617720" y="2834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matching breaks on any edit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Flips, crops, filters and recompression defeat simple hash comparison.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46720" y="1554480"/>
            <a:ext cx="3474720" cy="4206240"/>
          </a:xfrm>
          <a:prstGeom prst="roundRect">
            <a:avLst>
              <a:gd name="adj" fmla="val 2105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6760" y="18288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667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2834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is not the same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photos of one scene look alike but are different works; a copy is not.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proposal: a registry plus a copy checker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the original, add it to a tamper-evident hash chain, timestamp it in Bitcoin.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37560" y="17373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118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6118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31089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suspected copy; search the whole registry for candidates.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26480" y="17373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D7EEF0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1089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overlay, difference heatmap and a graded verdict, not just a score.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915400" y="173736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897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1089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with a QR code to a public page anyone can verify.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394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method: two fingerprints, a perceptual hash and a pretrained embedding, with a measured comparison of the two.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project proposal; README.md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proposal promised, and the risks it named up front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46304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FBEFD9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Promised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platform: register work, check suspected copies, see the evidence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cropped, filtered, recompressed and AI-edited copies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results, not a yes/no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tamper-evident, timestamped registry and a certificate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comparison: embeddings vs classical hashing, the basis of the paper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named in advance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tuning: catch real theft without flagging look-alikes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construction: a fair, large set of edited and AI-edited images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scale as the registry grows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curve in hashing, embeddings and evaluation method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project proposal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2: The first draft pipeline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fingerprints and a learned fusion, evaluated on a benchmark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draft pipeline: two fingerprints and a learned fusion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Decode, EXIF orientation, RGB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816352" y="164592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9232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pHash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2999232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DCT hash of the whole frame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84064" y="164592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66944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266944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ViT-B/32, 512-d embedding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51776" y="164592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534656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7534656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over both similarities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619488" y="1645920"/>
            <a:ext cx="2057400" cy="1920240"/>
          </a:xfrm>
          <a:prstGeom prst="roundRect">
            <a:avLst>
              <a:gd name="adj" fmla="val 3810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02368" y="1828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9802368" y="237744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/ possible / no match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D7EEF0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5262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chain: each entry commits to the previous one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OpenTimestamps anchoring in Bitcoin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 with a QR code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17920" y="3931920"/>
            <a:ext cx="5422392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4069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fusion rule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45262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= sigmoid(27.9 x embedding + 13.1 x pHash - 25.8)  likely at 0.996, possible at 0.27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docs/PIPELINE_STATUS_REPORT.md section 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draft looked excellent, on easy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7406640" y="1463040"/>
            <a:ext cx="4251960" cy="4297680"/>
          </a:xfrm>
          <a:prstGeom prst="roundRect">
            <a:avLst>
              <a:gd name="adj" fmla="val 1720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3524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showed and hid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635240" y="2194560"/>
            <a:ext cx="3840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beats pHash on crops, flips and rotations (pHash: 0% on flips)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AUC 0.9992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negatives were different landscapes, an easy test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"AI" edits were image filters, not generative output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baseline robustness run (summary.md); docs/PIPELINE_STATUS_REPORT.md sections 5-6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3: Challenges and changes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case broke the benchmark result; measurement decided what to build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real photo exposed two failures the benchmark could not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3716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858000" y="1463040"/>
            <a:ext cx="4800600" cy="4297680"/>
          </a:xfrm>
          <a:prstGeom prst="roundRect">
            <a:avLst>
              <a:gd name="adj" fmla="val 1702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086600" y="1645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failures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086600" y="2194560"/>
            <a:ext cx="4343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AI edit scored 0.5%: undetected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photo of the same scene (older child added) scored 96.6%, higher than a genuine AI derivative at 79.7%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reward shared background and pose, not shared content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easiest case sat 0.0001 below the "likely" threshold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docs/PIPELINE_STATUS_REPORT.md section 6.3 (n = 1 per row: a diagnostic, not a benchmark)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fixes we tried and rejected, so we did not build on them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5486400"/>
                <a:gridCol w="17647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 images to a square for CLIP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True-match similarity collapsed (0.83 to 0.40)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 3 crops, take the max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on copies, did not separate the sibling, 3x compute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dHash / wHash / aHash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wHash and aHash scored the sibling higher than pHash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faces to detect added people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faces found on a one-child image; useless for illustrations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Tile-grid pHash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separation without first aligning the images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global scores cannot tell "same scene" from "same content". Aligning the images first can.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docs/PIPELINE_STATUS_REPORT.md section 7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 spikes decided what to build and what to drop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0.01 - 1.4 px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leftover shift after aligning synthetic copies, against 7 to 38 px for real derivative pairs: alignment separates copies from look-alikes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29768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0.911 vs 0.849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560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ranks the AI edit above the sibling; CLIP does not (0.802 vs 0.813): keep both models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046720" y="1554480"/>
            <a:ext cx="3474720" cy="3383280"/>
          </a:xfrm>
          <a:prstGeom prst="roundRect">
            <a:avLst>
              <a:gd name="adj" fmla="val 2162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1737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52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560320"/>
            <a:ext cx="3017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flagged by one AI-image detector; the other flagged all 52: both detectors failed, so none ships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1663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1: 5 images, 29 pairs, with 14 synthetic controls; Spike 2: 52 jersey photos + 5 case images for the detectors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align first (SIFT + MAGSAC), grade by pixel evidence, never use an ML detector as proof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measurement spike runs (results.md, results.json)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was built, then reviewed and tested until it worked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32918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in review and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stage crashed on every image (missing import)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Fixed; stage failures are now logged, never swallowed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crops, resizes and rotations rejected as inconsistent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by a reprojection-fit guard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 check reported a C2PA manifest on every 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Now reads the manifest and its signature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images used the wrong scale; refinement applied the wrong 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Rebuilt in one consistent frame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photos with EXIF rotation compared unrotated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normaliser for every image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not connected to the 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Wired into check, register and the evidence 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686800" y="15544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to 102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686800" y="2423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(offline, about 2 minutes)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32918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4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4160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listed in the code review; each fixed or tracked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docs/GATE_PIPELINE.md; backend/tests/ (pytest); review findings in the project notes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evaluation changed in the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840480"/>
                <a:gridCol w="32278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 testing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canvas matches trivially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only structured pixels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evidence from flat backgrounds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sprites compared on black vs reposts on white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composited on white; transparent pixels ignored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Sprite copies match reposts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Near-perfect copies blocked by one edge-sensitive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Two-route Tier 1 rule, tuned on dev split, checked on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recall 78.2% to 84.5%, 0 false on 20 negatives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crops just under a coverage 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Containment coverage 0.5 to 0.4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crops and screens: 0 to 13 of 49 now Tier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many candidates verified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depth 5 to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to 5 candidates, about 10% faster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Near-same-position second photo graded as 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Typical-residual limit 8 to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pair is now a lead; 0 evidence claims on 70 negatives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verification re-run and threshold sweep (sweep.md, label_fixes_applied.md)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4: The final pipeline run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built to break it, and an honest account of the results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verification gate: six stages from upload to evidence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Normalise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EXIF, trim borders, alpha on white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395728" y="164592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32888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2532888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532888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+ DINOv2, 3 orientations, crop vectors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42816" y="164592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379976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4379976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379976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 + MAGSAC; flat-art fallback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9904" y="164592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27064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227064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227064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Warp, photometric match, residual, flow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936992" y="164592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74152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8074152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074152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evidence / lead / none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9784080" y="164592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921240" y="1783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G5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9921240" y="2286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921240" y="27889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Overlay, heatmap, changed regions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572000"/>
            <a:ext cx="11091672" cy="1188720"/>
          </a:xfrm>
          <a:prstGeom prst="roundRect">
            <a:avLst>
              <a:gd name="adj" fmla="val 6154"/>
            </a:avLst>
          </a:prstGeom>
          <a:solidFill>
            <a:srgbClr val="D7EEF0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466344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parallel: origin check. </a:t>
            </a:r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C2PA manifests and IPTC DigitalSourceType. Absence is reported as "no provenance metadata found", never as "real".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docs/GATE_PIPELINE.md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is allowed to claim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9593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1: pixel evidence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 regions agree pixel for pixel after alignment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grade: can block a duplicate registration, supports a takedown request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image (lead)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Credible alignment but pixels differ: edited, re-rendered or a second photo of the same scene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review required; never presented as proof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origin metadata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signed C2PA manifest or IPTC tag declares AI generation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as declared by the file; its absence proves nothing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credible link to any registered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limit: heavy AI regeneration ends here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a dataset built to break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527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585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works: illustration, flat art, sprites, phone photos, night shots, documents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4173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0" y="1527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1,200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2585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edits: crops to 10%, rotations, JPEG q10, blur, grayscale, screenshot frames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141732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1527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22585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WhatsApp round-trips and exact re-uploads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447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1788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edits: light, medium, heavy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97680" y="3337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3447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0" y="41788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negatives and unrelated images that must not be flagged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333756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3447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713</a:t>
            </a:r>
            <a:endParaRPr lang="en-US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41788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works, including near-duplicate distractors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3492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held-out test split (30% of originals) was never used to choose thresholds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audited: the gate itself exposed 2 mislabelled files and 1 duplicate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carry 95% upper bounds, not just point estimates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docs/DATASET_SPEC.md; dataset review and label-fix files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 catches as many copies, with far fewer false alarms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5391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run: 1,399 test images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412480" y="1463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86.9%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8412480" y="2331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altered copies get pixel-level evidence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412480" y="32004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70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841248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look-alikes wrongly called evidence (95% upper bound 4.2%)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12480" y="5029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also reports a lead for 95.6% of copies in total.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alteration: near-perfect except heavy blur and tiny crops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5391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run: 1,399 test images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1463040"/>
            <a:ext cx="3154680" cy="4572000"/>
          </a:xfrm>
          <a:prstGeom prst="roundRect">
            <a:avLst>
              <a:gd name="adj" fmla="val 2319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7325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weak spots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732520" y="2194560"/>
            <a:ext cx="2743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removes the fine detail pixel evidence needs, so blurred copies become leads, still found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crops often have too few matching features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 edits are above 80%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vector art is the hardest category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5391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run: 1,399 test images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713232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046720" y="146304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753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flat art is harder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275320" y="2194560"/>
            <a:ext cx="3200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corner features, so matching has less to hold on to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edges carry information, so tiny sub-pixel shifts show as differences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help: a whole-image alignment fallback and a measure that ignores blank areas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WhatsApp copies are all caught; AI edits split by how much changed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5391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run: 1,399 test images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63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41 real WhatsApp round-trips graded Tier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60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exact re-uploads graded Tier 1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554480"/>
          <a:ext cx="717804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005840"/>
                <a:gridCol w="914400"/>
                <a:gridCol w="100584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edit strength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Declares AI in metadata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(small local change)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(new background / style)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(only a reference)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480560" y="4297680"/>
            <a:ext cx="7178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regeneration cannot be linked pixel by pixel: an information limit, reported as no claim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Gemini files carry signed provenance, so metadata still flags them as AI-made (until stripped)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false alarm the evaluation caught, and what we did about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pic>
        <p:nvPicPr>
          <p:cNvPr id="5" name="Image 0" descr="case_evid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23225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37490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to right: aligned overlay, difference heatmap, changed regions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7772400" y="1371600"/>
            <a:ext cx="3886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photo, taken 7 s later from almost the same spot, aligned pixel for pixel; only the cat's ears moved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graded Tier 1 evidence: a false positive, 1 of 20 sibling pairs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tighter typical-residual limit; the pair is now a lead for human review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limit: the margin is one grey level, so near-same-position captures stay the main risk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48640" y="4297680"/>
            <a:ext cx="6949440" cy="1645920"/>
          </a:xfrm>
          <a:prstGeom prst="roundRect">
            <a:avLst>
              <a:gd name="adj" fmla="val 4444"/>
            </a:avLst>
          </a:prstGeom>
          <a:solidFill>
            <a:srgbClr val="D7EEF0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43891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6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can block someone else's registration, so we tuned for fewer false alarms and kept human review for the gap.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full evaluation run (failures.csv, per_candidate.csv); EXIF capture times in the dataset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 metadata: every planted case recognised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Corrupted C2PA manifests (10)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10 reported as tampered / invalid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Metadata-stripped copies (10)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10 reported as no provenance (not "real")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XMP IPTC AI tags (10)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10 detected as declared 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C2PA files (10)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of 10 manifests read; 5 verified, 5 have an invalid signing certificate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AI edits (75)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of 75 declare AI generation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copies and originals (153)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false provenance claims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8503920" y="1463040"/>
            <a:ext cx="3154680" cy="4297680"/>
          </a:xfrm>
          <a:prstGeom prst="roundRect">
            <a:avLst>
              <a:gd name="adj" fmla="val 2319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7325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 this found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732520" y="2194560"/>
            <a:ext cx="2743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version reported "C2PA manifest found" on every image, including plain PNGs. It now reads the manifest and checks the signature.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provenance evaluation (provenance_summary.md, provenance_per_file.csv)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4.3 seconds per check on a CPU-only laptop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5391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run: 1,399 test images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8016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321040" y="1463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s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8321040" y="2331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per check, including evidence images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321040" y="31089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832104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verified per check (8 before measured tuning)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321040" y="4846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depth was cut from 5 to 3 because the true work was in the top 3 for every positive tested.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evaluation run in one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200400"/>
                <a:gridCol w="313639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robustness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840 copies, 32,760 pairs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pHash vs CLIP vs fusion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 AUC 0.9992 (easy negatives)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photo, 4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AI edits and a sibling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edit missed; sibling scored as 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 experiments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Pad, multi-crop, extra hashes, faces, tiles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five rejected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Spikes 1 and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+ 57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Alignment, DINOv2, AI detectors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Alignment separates; detectors fail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rehearsal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 images, 61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end-to-end gate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Tier 1; 0 false on 33 negatives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+ 228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C2PA and XMP reading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planted cases recognised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 images, 713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evaluation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 Tier 1; 100% WhatsApp; 1 false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originals as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contamination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mislabels, 1 duplicate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crops 0 to 13 of 49; false 1 to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run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1,399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dataset, final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 Tier 1 on copies; 0 of 70 false 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80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each run has its own results folder in the repository (summary.md)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evidence report: the full dataset run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153912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run: 1,399 test images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86.9%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altered copies get pixel-level evidence (interim 80.6%)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70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look-alikes called evidence (95% bound 4.2%)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97.6%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WhatsApp round-trips graded Tier 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1417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s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905256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per check (95th percentile 8.7 s)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017520"/>
                <a:gridCol w="2953512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(batch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images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on altered copies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claim reported on copies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test split, Tier 1 (scripted edits)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claims on look-alikes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of 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of 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 and what comes next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Provenance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0" y="1463040"/>
            <a:ext cx="5422392" cy="4480560"/>
          </a:xfrm>
          <a:prstGeom prst="roundRect">
            <a:avLst>
              <a:gd name="adj" fmla="val 1633"/>
            </a:avLst>
          </a:prstGeom>
          <a:solidFill>
            <a:srgbClr val="D7EEF0"/>
          </a:solidFill>
          <a:ln w="9525">
            <a:solidFill>
              <a:srgbClr val="D9E0E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9456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AI regeneration cannot be linked by any pixel method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shots from almost the same position can pass as evidence; keep human review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crops and very small images have too few features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Re-photographed screens and prints are not modelled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come from this dataset: re-check on new data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19456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matcher as a fallback for flat art and blur, kept only if it beats an ablation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Noise-pattern check to separate near-identical captures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at 5,000+ registered works and on more AI editors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and takedown-request workflow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can now say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114800" y="20116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altered copies get pixel-level evidence; a lead for 96% in total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70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33375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look-alikes wrongly called evidence, against 70% for the classic score at its strict threshold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63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s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4663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check time on a CPU-only laptop, with evidence images a person can verify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Graded, checkable evidence, not a black-box score.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Asset Provenance: from a perceptual-hash baseline to a verified evidence pipeline</dc:title>
  <dc:subject>PptxGenJS Presentation</dc:subject>
  <dc:creator>PptxGenJS</dc:creator>
  <cp:lastModifiedBy>PptxGenJS</cp:lastModifiedBy>
  <cp:revision>1</cp:revision>
  <dcterms:created xsi:type="dcterms:W3CDTF">2026-10-11T15:11:38Z</dcterms:created>
  <dcterms:modified xsi:type="dcterms:W3CDTF">2026-10-11T15:11:38Z</dcterms:modified>
</cp:coreProperties>
</file>